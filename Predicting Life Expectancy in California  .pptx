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09ae69951_4_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1109ae69951_4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109ae69951_4_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1109ae69951_4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109ae69951_4_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1109ae69951_4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09ae69951_4_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1109ae69951_4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109ae69951_4_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1109ae69951_4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7956bc6d6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 POSS DELETE?**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e7956bc6d6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7956bc6d6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e7956bc6d6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7956bc6d6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7956bc6d6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7956bc6d6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RMSE of 2.360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an </a:t>
            </a: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R² of 0.500</a:t>
            </a:r>
            <a:endParaRPr/>
          </a:p>
        </p:txBody>
      </p:sp>
      <p:sp>
        <p:nvSpPr>
          <p:cNvPr id="168" name="Google Shape;168;g3e7956bc6d6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7956bc6d6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7956bc6d6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7956bc6d6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7956bc6d6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7956bc6d6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7956bc6d6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109ae69951_4_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1109ae69951_4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9D213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628650" y="4629150"/>
            <a:ext cx="7886700" cy="0"/>
          </a:xfrm>
          <a:custGeom>
            <a:rect b="b" l="l" r="r" t="t"/>
            <a:pathLst>
              <a:path extrusionOk="0" h="120000"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9778" y="4712589"/>
            <a:ext cx="2551166" cy="38290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>
            <p:ph type="title"/>
          </p:nvPr>
        </p:nvSpPr>
        <p:spPr>
          <a:xfrm>
            <a:off x="3738419" y="2343854"/>
            <a:ext cx="1667161" cy="430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738419" y="2343854"/>
            <a:ext cx="1667161" cy="430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643846" y="1198257"/>
            <a:ext cx="3738086" cy="2721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2" type="body"/>
          </p:nvPr>
        </p:nvSpPr>
        <p:spPr>
          <a:xfrm>
            <a:off x="4646631" y="1198257"/>
            <a:ext cx="3738086" cy="2721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3738419" y="2343854"/>
            <a:ext cx="1667161" cy="430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1634967" y="1158089"/>
            <a:ext cx="5874065" cy="1391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62283" y="1433457"/>
            <a:ext cx="3419432" cy="24674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/>
          <p:nvPr/>
        </p:nvSpPr>
        <p:spPr>
          <a:xfrm>
            <a:off x="628650" y="4629150"/>
            <a:ext cx="7886700" cy="0"/>
          </a:xfrm>
          <a:custGeom>
            <a:rect b="b" l="l" r="r" t="t"/>
            <a:pathLst>
              <a:path extrusionOk="0" h="120000"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cap="flat" cmpd="sng" w="9525">
            <a:solidFill>
              <a:srgbClr val="9D2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40362" y="4840224"/>
            <a:ext cx="2289998" cy="15635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5"/>
          <p:cNvSpPr txBox="1"/>
          <p:nvPr>
            <p:ph type="title"/>
          </p:nvPr>
        </p:nvSpPr>
        <p:spPr>
          <a:xfrm>
            <a:off x="3738419" y="2343854"/>
            <a:ext cx="1667161" cy="430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1634967" y="1158089"/>
            <a:ext cx="5874065" cy="1391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u="non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cdc.gov/nchs/nvss/usaleep/usaleep.html" TargetMode="External"/><Relationship Id="rId4" Type="http://schemas.openxmlformats.org/officeDocument/2006/relationships/hyperlink" Target="https://www.cdc.gov/nchs/nvss/usaleep/usaleep.html" TargetMode="External"/><Relationship Id="rId5" Type="http://schemas.openxmlformats.org/officeDocument/2006/relationships/hyperlink" Target="https://www.healthyplacesindex.org/" TargetMode="External"/><Relationship Id="rId6" Type="http://schemas.openxmlformats.org/officeDocument/2006/relationships/hyperlink" Target="https://www.healthyplacesindex.org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1549200" y="2103250"/>
            <a:ext cx="60456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Life Expectancy in California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2"/>
          <p:cNvSpPr txBox="1"/>
          <p:nvPr>
            <p:ph type="title"/>
          </p:nvPr>
        </p:nvSpPr>
        <p:spPr>
          <a:xfrm>
            <a:off x="2385600" y="2669775"/>
            <a:ext cx="43728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Maya A., Matthew B., Neil M., Anna S. </a:t>
            </a:r>
            <a:endParaRPr sz="20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idx="1" type="body"/>
          </p:nvPr>
        </p:nvSpPr>
        <p:spPr>
          <a:xfrm>
            <a:off x="1634967" y="1158089"/>
            <a:ext cx="5874065" cy="1391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092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elit, sed do eiusmod  tempor incididunt ut labore et dolore magna aliqua. Ut enim ad minim  veniam, quis </a:t>
            </a:r>
            <a:r>
              <a:rPr i="1" lang="en">
                <a:latin typeface="Calibri"/>
                <a:ea typeface="Calibri"/>
                <a:cs typeface="Calibri"/>
                <a:sym typeface="Calibri"/>
              </a:rPr>
              <a:t>nostrud exercitation ullamco laboris </a:t>
            </a:r>
            <a:r>
              <a:rPr lang="en"/>
              <a:t>nisi ut aliquip ex ea  commodo consequat. Duis aute irure dolor in reprehenderit in voluptate velit  esse cillum dolore eu fugiat nulla</a:t>
            </a:r>
            <a:endParaRPr/>
          </a:p>
        </p:txBody>
      </p:sp>
      <p:sp>
        <p:nvSpPr>
          <p:cNvPr id="107" name="Google Shape;107;p23"/>
          <p:cNvSpPr txBox="1"/>
          <p:nvPr/>
        </p:nvSpPr>
        <p:spPr>
          <a:xfrm>
            <a:off x="687704" y="1189482"/>
            <a:ext cx="13920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Lorem Ipsum  Dalor Sit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23"/>
          <p:cNvSpPr txBox="1"/>
          <p:nvPr>
            <p:ph type="title"/>
          </p:nvPr>
        </p:nvSpPr>
        <p:spPr>
          <a:xfrm>
            <a:off x="643846" y="348755"/>
            <a:ext cx="2512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D2135"/>
                </a:solidFill>
              </a:rPr>
              <a:t>Purpose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643855" y="348752"/>
            <a:ext cx="5502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D2135"/>
                </a:solidFill>
              </a:rPr>
              <a:t>Data Collection and Prepartion</a:t>
            </a:r>
            <a:endParaRPr sz="2100"/>
          </a:p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643846" y="1198257"/>
            <a:ext cx="3738086" cy="2721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-3873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AutoNum type="arabicPeriod"/>
            </a:pPr>
            <a:r>
              <a:rPr lang="en"/>
              <a:t>Lorem Ipsum Dalor</a:t>
            </a:r>
            <a:endParaRPr/>
          </a:p>
          <a:p>
            <a:pPr indent="0" lvl="0" marL="393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Lorem ipsum dolor sit amet, consectetur adipiscing elit, sed do eiusmod  tempor incididunt ut labore et dolore magna aliqua. Ut enim ad minim  veniam,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AutoNum type="arabicPeriod" startAt="2"/>
            </a:pPr>
            <a:r>
              <a:rPr lang="en"/>
              <a:t>Lorem Ipsum Dalor</a:t>
            </a:r>
            <a:endParaRPr/>
          </a:p>
          <a:p>
            <a:pPr indent="0" lvl="0" marL="393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Lorem ipsum dolor sit amet, consectetur adipiscing elit, sed do eiusmod  tempor incididunt ut labore et dolore magna aliqua. Ut enim ad minim  veniam,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AutoNum type="arabicPeriod" startAt="3"/>
            </a:pPr>
            <a:r>
              <a:rPr lang="en"/>
              <a:t>Lorem Ipsum Dalor</a:t>
            </a:r>
            <a:endParaRPr/>
          </a:p>
          <a:p>
            <a:pPr indent="0" lvl="0" marL="393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Lorem ipsum dolor sit amet, consectetur adipiscing elit, sed do eiusmod  tempor incididunt ut labore et dolore magna aliqua. Ut enim ad minim  veniam,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4"/>
          <p:cNvSpPr txBox="1"/>
          <p:nvPr>
            <p:ph idx="2" type="body"/>
          </p:nvPr>
        </p:nvSpPr>
        <p:spPr>
          <a:xfrm>
            <a:off x="4646631" y="1198257"/>
            <a:ext cx="3738086" cy="2721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-3873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AutoNum type="arabicPeriod" startAt="4"/>
            </a:pPr>
            <a:r>
              <a:rPr lang="en"/>
              <a:t>Lorem Ipsum Dalor</a:t>
            </a:r>
            <a:endParaRPr/>
          </a:p>
          <a:p>
            <a:pPr indent="0" lvl="0" marL="393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Lorem ipsum dolor sit amet, consectetur adipiscing elit, sed do eiusmod  tempor incididunt ut labore et dolore magna aliqua. Ut enim ad minim  veniam,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AutoNum type="arabicPeriod" startAt="5"/>
            </a:pPr>
            <a:r>
              <a:rPr lang="en"/>
              <a:t>Lorem Ipsum Dalor</a:t>
            </a:r>
            <a:endParaRPr/>
          </a:p>
          <a:p>
            <a:pPr indent="0" lvl="0" marL="3937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Lorem ipsum dolor sit amet, consectetur adipiscing elit, sed do eiusmod  tempor incididunt ut labore et dolore magna aliqua. Ut enim ad minim  veniam,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93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Georgia"/>
              <a:buAutoNum type="arabicPeriod" startAt="6"/>
            </a:pPr>
            <a:r>
              <a:rPr lang="en"/>
              <a:t>Lorem Ipsum Dalor</a:t>
            </a:r>
            <a:endParaRPr/>
          </a:p>
          <a:p>
            <a:pPr indent="0" lvl="0" marL="393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Lorem ipsum dolor sit amet, consectetur adipiscing elit, sed do eiusmod  tempor incididunt ut labore et dolore magna aliqua. Ut enim ad minim  veniam,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/>
        </p:nvSpPr>
        <p:spPr>
          <a:xfrm>
            <a:off x="5382169" y="1738354"/>
            <a:ext cx="475774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7226513" y="1672975"/>
            <a:ext cx="455295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7476830" y="2814831"/>
            <a:ext cx="425768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6353719" y="3477314"/>
            <a:ext cx="475298" cy="293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643693" y="815977"/>
            <a:ext cx="2525553" cy="2807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Lorem Ipsum Dalor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 adipiscing elit, sed do eiusmod tempor  incididunt ut labore et dolore magna  aliqua. Ut enim ad minim veniam, quis  </a:t>
            </a:r>
            <a:r>
              <a:rPr b="0" i="1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nostrud exercitation ullamco laboris </a:t>
            </a: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nisi  ut aliquip ex ea commodo consequat.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Duis aute irure dolor in reprehenderit in  voluptate velit esse cillum dolore eu  fugiat nulla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5"/>
          <p:cNvSpPr txBox="1"/>
          <p:nvPr>
            <p:ph type="title"/>
          </p:nvPr>
        </p:nvSpPr>
        <p:spPr>
          <a:xfrm>
            <a:off x="643846" y="348755"/>
            <a:ext cx="2512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D2135"/>
                </a:solidFill>
              </a:rPr>
              <a:t>LASSO</a:t>
            </a:r>
            <a:endParaRPr sz="2100"/>
          </a:p>
        </p:txBody>
      </p:sp>
      <p:pic>
        <p:nvPicPr>
          <p:cNvPr id="126" name="Google Shape;12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5234" y="383263"/>
            <a:ext cx="4868091" cy="300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000" y="3623000"/>
            <a:ext cx="59436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/>
        </p:nvSpPr>
        <p:spPr>
          <a:xfrm>
            <a:off x="5382169" y="1738354"/>
            <a:ext cx="4758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7226513" y="1672975"/>
            <a:ext cx="455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26"/>
          <p:cNvSpPr txBox="1"/>
          <p:nvPr/>
        </p:nvSpPr>
        <p:spPr>
          <a:xfrm>
            <a:off x="7476830" y="2814831"/>
            <a:ext cx="425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26"/>
          <p:cNvSpPr txBox="1"/>
          <p:nvPr/>
        </p:nvSpPr>
        <p:spPr>
          <a:xfrm>
            <a:off x="6353719" y="3477314"/>
            <a:ext cx="475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43694" y="815977"/>
            <a:ext cx="25257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6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Lorem Ipsum Dalor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12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Lorem ipsum dolor sit amet, consectetur  adipiscing elit, sed do eiusmod tempor  incididunt ut labore et dolore magna  aliqua. Ut enim ad minim veniam, quis  </a:t>
            </a:r>
            <a:r>
              <a:rPr b="0" i="1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nostrud exercitation ullamco laboris </a:t>
            </a: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nisi  ut aliquip ex ea commodo consequat.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Duis aute irure dolor in reprehenderit in  voluptate velit esse cillum dolore eu  fugiat nulla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 txBox="1"/>
          <p:nvPr>
            <p:ph type="title"/>
          </p:nvPr>
        </p:nvSpPr>
        <p:spPr>
          <a:xfrm>
            <a:off x="643846" y="348755"/>
            <a:ext cx="2512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D2135"/>
                </a:solidFill>
              </a:rPr>
              <a:t>Two - Way Anova</a:t>
            </a:r>
            <a:endParaRPr sz="2100"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31150"/>
            <a:ext cx="59436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0925" y="48188"/>
            <a:ext cx="5943600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5382169" y="1738354"/>
            <a:ext cx="4758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7226513" y="1672975"/>
            <a:ext cx="455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7476830" y="2814831"/>
            <a:ext cx="425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6353719" y="3477314"/>
            <a:ext cx="475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643694" y="815977"/>
            <a:ext cx="25257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625">
            <a:spAutoFit/>
          </a:bodyPr>
          <a:lstStyle/>
          <a:p>
            <a:pPr indent="0" lvl="0" marL="127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643846" y="348755"/>
            <a:ext cx="2512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100">
                <a:solidFill>
                  <a:srgbClr val="9D2135"/>
                </a:solidFill>
              </a:rPr>
              <a:t>K-Mean</a:t>
            </a:r>
            <a:endParaRPr sz="2100"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00" y="927575"/>
            <a:ext cx="4073895" cy="217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700" y="3241825"/>
            <a:ext cx="4073899" cy="522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0225" y="843935"/>
            <a:ext cx="3445750" cy="23413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20222" y="3241829"/>
            <a:ext cx="4319880" cy="12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/>
        </p:nvSpPr>
        <p:spPr>
          <a:xfrm>
            <a:off x="5382169" y="1738354"/>
            <a:ext cx="4758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7226513" y="1672975"/>
            <a:ext cx="455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28"/>
          <p:cNvSpPr txBox="1"/>
          <p:nvPr/>
        </p:nvSpPr>
        <p:spPr>
          <a:xfrm>
            <a:off x="7476830" y="2814831"/>
            <a:ext cx="425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6353719" y="3477314"/>
            <a:ext cx="475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643694" y="815977"/>
            <a:ext cx="25257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625">
            <a:spAutoFit/>
          </a:bodyPr>
          <a:lstStyle/>
          <a:p>
            <a:pPr indent="0" lvl="0" marL="127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8"/>
          <p:cNvSpPr txBox="1"/>
          <p:nvPr>
            <p:ph type="title"/>
          </p:nvPr>
        </p:nvSpPr>
        <p:spPr>
          <a:xfrm>
            <a:off x="643846" y="348755"/>
            <a:ext cx="2512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100">
                <a:solidFill>
                  <a:srgbClr val="9D2135"/>
                </a:solidFill>
              </a:rPr>
              <a:t>Random Forest</a:t>
            </a:r>
            <a:endParaRPr sz="2100"/>
          </a:p>
        </p:txBody>
      </p:sp>
      <p:pic>
        <p:nvPicPr>
          <p:cNvPr id="164" name="Google Shape;16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625" y="1006125"/>
            <a:ext cx="34290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06125"/>
            <a:ext cx="340995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/>
        </p:nvSpPr>
        <p:spPr>
          <a:xfrm>
            <a:off x="5382169" y="1738354"/>
            <a:ext cx="4758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7226513" y="1672975"/>
            <a:ext cx="455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7476830" y="2814831"/>
            <a:ext cx="425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6353719" y="3477314"/>
            <a:ext cx="475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643694" y="815977"/>
            <a:ext cx="25257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625">
            <a:spAutoFit/>
          </a:bodyPr>
          <a:lstStyle/>
          <a:p>
            <a:pPr indent="0" lvl="0" marL="127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9"/>
          <p:cNvSpPr txBox="1"/>
          <p:nvPr>
            <p:ph type="title"/>
          </p:nvPr>
        </p:nvSpPr>
        <p:spPr>
          <a:xfrm>
            <a:off x="643846" y="348755"/>
            <a:ext cx="2512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100">
                <a:solidFill>
                  <a:srgbClr val="9D2135"/>
                </a:solidFill>
              </a:rPr>
              <a:t>XGBoost</a:t>
            </a:r>
            <a:endParaRPr sz="2100"/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00" y="810188"/>
            <a:ext cx="318135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938" y="2953325"/>
            <a:ext cx="31908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3850" y="681150"/>
            <a:ext cx="4314825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/>
        </p:nvSpPr>
        <p:spPr>
          <a:xfrm>
            <a:off x="5382169" y="1738354"/>
            <a:ext cx="4758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4" name="Google Shape;184;p30"/>
          <p:cNvSpPr txBox="1"/>
          <p:nvPr/>
        </p:nvSpPr>
        <p:spPr>
          <a:xfrm>
            <a:off x="7226513" y="1672975"/>
            <a:ext cx="455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7476830" y="2814831"/>
            <a:ext cx="425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6353719" y="3477314"/>
            <a:ext cx="475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643694" y="815977"/>
            <a:ext cx="25257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625">
            <a:spAutoFit/>
          </a:bodyPr>
          <a:lstStyle/>
          <a:p>
            <a:pPr indent="0" lvl="0" marL="127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0"/>
          <p:cNvSpPr txBox="1"/>
          <p:nvPr>
            <p:ph type="title"/>
          </p:nvPr>
        </p:nvSpPr>
        <p:spPr>
          <a:xfrm>
            <a:off x="643846" y="348755"/>
            <a:ext cx="2512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100">
                <a:solidFill>
                  <a:srgbClr val="9D2135"/>
                </a:solidFill>
              </a:rPr>
              <a:t>SHAP</a:t>
            </a:r>
            <a:endParaRPr sz="2100"/>
          </a:p>
        </p:txBody>
      </p:sp>
      <p:pic>
        <p:nvPicPr>
          <p:cNvPr id="189" name="Google Shape;1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4600" y="1475500"/>
            <a:ext cx="4856799" cy="29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675" y="180100"/>
            <a:ext cx="520065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/>
        </p:nvSpPr>
        <p:spPr>
          <a:xfrm>
            <a:off x="5382169" y="1738354"/>
            <a:ext cx="4758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31"/>
          <p:cNvSpPr txBox="1"/>
          <p:nvPr/>
        </p:nvSpPr>
        <p:spPr>
          <a:xfrm>
            <a:off x="7226513" y="1672975"/>
            <a:ext cx="4554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7476830" y="2814831"/>
            <a:ext cx="425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31"/>
          <p:cNvSpPr txBox="1"/>
          <p:nvPr/>
        </p:nvSpPr>
        <p:spPr>
          <a:xfrm>
            <a:off x="6353719" y="3477314"/>
            <a:ext cx="4752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20%</a:t>
            </a:r>
            <a:endParaRPr b="0" i="0" sz="18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31"/>
          <p:cNvSpPr txBox="1"/>
          <p:nvPr/>
        </p:nvSpPr>
        <p:spPr>
          <a:xfrm>
            <a:off x="643694" y="815977"/>
            <a:ext cx="25257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625">
            <a:spAutoFit/>
          </a:bodyPr>
          <a:lstStyle/>
          <a:p>
            <a:pPr indent="0" lvl="0" marL="12700" marR="381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">
                <a:latin typeface="Georgia"/>
                <a:ea typeface="Georgia"/>
                <a:cs typeface="Georgia"/>
                <a:sym typeface="Georgia"/>
              </a:rPr>
              <a:t>Text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1"/>
          <p:cNvSpPr txBox="1"/>
          <p:nvPr>
            <p:ph type="title"/>
          </p:nvPr>
        </p:nvSpPr>
        <p:spPr>
          <a:xfrm>
            <a:off x="643852" y="348750"/>
            <a:ext cx="35595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100">
                <a:solidFill>
                  <a:srgbClr val="9D2135"/>
                </a:solidFill>
              </a:rPr>
              <a:t>Results and Conclusion</a:t>
            </a:r>
            <a:endParaRPr sz="2100"/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99" y="1285000"/>
            <a:ext cx="2438453" cy="128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2850" y="1959769"/>
            <a:ext cx="4499225" cy="2743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575" y="2814825"/>
            <a:ext cx="3228617" cy="166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643852" y="971760"/>
            <a:ext cx="70383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Centers for Disease Control and Prevention, National Center for Health Statistics. (2018). </a:t>
            </a:r>
            <a:r>
              <a:rPr i="1" lang="en" sz="1400">
                <a:latin typeface="Georgia"/>
                <a:ea typeface="Georgia"/>
                <a:cs typeface="Georgia"/>
                <a:sym typeface="Georgia"/>
              </a:rPr>
              <a:t>U.S.A. Life Expectancy at Birth (USALEEP)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[Data set]. Retrieved from</a:t>
            </a:r>
            <a:r>
              <a:rPr lang="en" sz="1400"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3"/>
              </a:rPr>
              <a:t> </a:t>
            </a:r>
            <a:r>
              <a:rPr lang="en" sz="1400" u="sng">
                <a:solidFill>
                  <a:srgbClr val="1155CC"/>
                </a:solidFill>
                <a:latin typeface="Georgia"/>
                <a:ea typeface="Georgia"/>
                <a:cs typeface="Georgia"/>
                <a:sym typeface="Georg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https://www.cdc.gov/nchs/nvss/usaleep/usaleep.html</a:t>
            </a:r>
            <a:endParaRPr sz="1400" u="sng">
              <a:solidFill>
                <a:srgbClr val="1155CC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Public Health Alliance of Southern California. (2022). </a:t>
            </a:r>
            <a:r>
              <a:rPr i="1" lang="en" sz="1400">
                <a:latin typeface="Georgia"/>
                <a:ea typeface="Georgia"/>
                <a:cs typeface="Georgia"/>
                <a:sym typeface="Georgia"/>
              </a:rPr>
              <a:t>The California Healthy Places Index (HPI) 3.0 Complete Data File (2010 Geographies)</a:t>
            </a: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 [Data set provided upon request]. Retrieved from</a:t>
            </a:r>
            <a:r>
              <a:rPr lang="en" sz="1400">
                <a:uFill>
                  <a:noFill/>
                </a:uFill>
                <a:latin typeface="Georgia"/>
                <a:ea typeface="Georgia"/>
                <a:cs typeface="Georgia"/>
                <a:sym typeface="Georgia"/>
                <a:hlinkClick r:id="rId5"/>
              </a:rPr>
              <a:t> </a:t>
            </a:r>
            <a:r>
              <a:rPr lang="en" sz="1400" u="sng">
                <a:solidFill>
                  <a:srgbClr val="1155CC"/>
                </a:solidFill>
                <a:latin typeface="Georgia"/>
                <a:ea typeface="Georgia"/>
                <a:cs typeface="Georgia"/>
                <a:sym typeface="Georgia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https://www.healthyplacesindex.org/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9" name="Google Shape;209;p32"/>
          <p:cNvSpPr txBox="1"/>
          <p:nvPr>
            <p:ph type="title"/>
          </p:nvPr>
        </p:nvSpPr>
        <p:spPr>
          <a:xfrm>
            <a:off x="643846" y="348755"/>
            <a:ext cx="25128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9D2135"/>
                </a:solidFill>
              </a:rPr>
              <a:t>References</a:t>
            </a:r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/>
          <p:nvPr/>
        </p:nvSpPr>
        <p:spPr>
          <a:xfrm>
            <a:off x="628650" y="4629150"/>
            <a:ext cx="7886700" cy="0"/>
          </a:xfrm>
          <a:custGeom>
            <a:rect b="b" l="l" r="r" t="t"/>
            <a:pathLst>
              <a:path extrusionOk="0" h="120000"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3"/>
          <p:cNvSpPr txBox="1"/>
          <p:nvPr>
            <p:ph type="title"/>
          </p:nvPr>
        </p:nvSpPr>
        <p:spPr>
          <a:xfrm>
            <a:off x="3738419" y="2343854"/>
            <a:ext cx="1666399" cy="430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0_Office Theme">
  <a:themeElements>
    <a:clrScheme name="Chico State">
      <a:dk1>
        <a:srgbClr val="000000"/>
      </a:dk1>
      <a:lt1>
        <a:srgbClr val="FFFFFF"/>
      </a:lt1>
      <a:dk2>
        <a:srgbClr val="9D2234"/>
      </a:dk2>
      <a:lt2>
        <a:srgbClr val="75787B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